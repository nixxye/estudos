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0" r:id="rId2"/>
    <p:sldMasterId id="2147483651" r:id="rId3"/>
  </p:sldMasterIdLst>
  <p:notesMasterIdLst>
    <p:notesMasterId r:id="rId16"/>
  </p:notesMasterIdLst>
  <p:handoutMasterIdLst>
    <p:handoutMasterId r:id="rId17"/>
  </p:handoutMasterIdLst>
  <p:sldIdLst>
    <p:sldId id="570" r:id="rId4"/>
    <p:sldId id="619" r:id="rId5"/>
    <p:sldId id="620" r:id="rId6"/>
    <p:sldId id="621" r:id="rId7"/>
    <p:sldId id="622" r:id="rId8"/>
    <p:sldId id="623" r:id="rId9"/>
    <p:sldId id="624" r:id="rId10"/>
    <p:sldId id="625" r:id="rId11"/>
    <p:sldId id="626" r:id="rId12"/>
    <p:sldId id="627" r:id="rId13"/>
    <p:sldId id="628" r:id="rId14"/>
    <p:sldId id="629" r:id="rId15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9158D"/>
    <a:srgbClr val="990033"/>
    <a:srgbClr val="CC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4660"/>
  </p:normalViewPr>
  <p:slideViewPr>
    <p:cSldViewPr>
      <p:cViewPr varScale="1">
        <p:scale>
          <a:sx n="111" d="100"/>
          <a:sy n="111" d="100"/>
        </p:scale>
        <p:origin x="17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2" d="100"/>
        <a:sy n="7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4FBFFA5-3AFC-4C12-83E3-456CC4A2B19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9774BC4-2A0F-45F1-BC64-5DC92C0A32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2338687-5B6D-4524-A436-B09265ED996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1916113"/>
            <a:ext cx="4068762" cy="3960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916113"/>
            <a:ext cx="4070350" cy="39608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5113" y="476250"/>
            <a:ext cx="2071687" cy="5400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476250"/>
            <a:ext cx="60674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e 2 obje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476250"/>
            <a:ext cx="8229600" cy="1143000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sz="half" idx="1"/>
          </p:nvPr>
        </p:nvSpPr>
        <p:spPr>
          <a:xfrm>
            <a:off x="395288" y="1916113"/>
            <a:ext cx="4068762" cy="3960812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quarter" idx="2"/>
          </p:nvPr>
        </p:nvSpPr>
        <p:spPr>
          <a:xfrm>
            <a:off x="4616450" y="1916113"/>
            <a:ext cx="4070350" cy="1903412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e Conteúdo 4"/>
          <p:cNvSpPr>
            <a:spLocks noGrp="1"/>
          </p:cNvSpPr>
          <p:nvPr>
            <p:ph sz="quarter" idx="3"/>
          </p:nvPr>
        </p:nvSpPr>
        <p:spPr>
          <a:xfrm>
            <a:off x="4616450" y="3971925"/>
            <a:ext cx="4070350" cy="1905000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476250"/>
            <a:ext cx="8229600" cy="1143000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pt-BR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sz="half" idx="1"/>
          </p:nvPr>
        </p:nvSpPr>
        <p:spPr>
          <a:xfrm>
            <a:off x="395288" y="1916113"/>
            <a:ext cx="4068762" cy="3960812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16450" y="1916113"/>
            <a:ext cx="4070350" cy="3960812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7"/>
          <p:cNvSpPr>
            <a:spLocks noChangeArrowheads="1"/>
          </p:cNvSpPr>
          <p:nvPr userDrawn="1"/>
        </p:nvSpPr>
        <p:spPr bwMode="auto">
          <a:xfrm>
            <a:off x="395288" y="1685925"/>
            <a:ext cx="8280400" cy="318293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  <p:sp>
        <p:nvSpPr>
          <p:cNvPr id="68618" name="Rectangle 10"/>
          <p:cNvSpPr>
            <a:spLocks noChangeArrowheads="1"/>
          </p:cNvSpPr>
          <p:nvPr userDrawn="1"/>
        </p:nvSpPr>
        <p:spPr bwMode="auto">
          <a:xfrm rot="10800000">
            <a:off x="755650" y="2060575"/>
            <a:ext cx="7561263" cy="352901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E579"/>
              </a:gs>
              <a:gs pos="100000">
                <a:srgbClr val="FF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2563813"/>
            <a:ext cx="6192837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68625" name="Text Box 17"/>
          <p:cNvSpPr txBox="1">
            <a:spLocks noChangeArrowheads="1"/>
          </p:cNvSpPr>
          <p:nvPr userDrawn="1"/>
        </p:nvSpPr>
        <p:spPr bwMode="auto">
          <a:xfrm>
            <a:off x="827088" y="149225"/>
            <a:ext cx="59055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pt-BR" b="1">
                <a:latin typeface="Arial" charset="0"/>
                <a:cs typeface="+mn-cs"/>
              </a:rPr>
              <a:t>Universidade Tecnológica Federal do Paraná</a:t>
            </a:r>
          </a:p>
          <a:p>
            <a:pPr algn="ctr">
              <a:spcBef>
                <a:spcPct val="50000"/>
              </a:spcBef>
              <a:defRPr/>
            </a:pPr>
            <a:r>
              <a:rPr lang="pt-BR" b="1">
                <a:latin typeface="Arial" charset="0"/>
                <a:cs typeface="+mn-cs"/>
              </a:rPr>
              <a:t>Pró-Reitoria</a:t>
            </a:r>
          </a:p>
          <a:p>
            <a:pPr algn="ctr">
              <a:spcBef>
                <a:spcPct val="50000"/>
              </a:spcBef>
              <a:defRPr/>
            </a:pPr>
            <a:r>
              <a:rPr lang="pt-BR" b="1">
                <a:latin typeface="Arial" charset="0"/>
                <a:cs typeface="+mn-cs"/>
              </a:rPr>
              <a:t>Relações Empresariais e Comunitárias - PROREC</a:t>
            </a:r>
          </a:p>
        </p:txBody>
      </p:sp>
      <p:pic>
        <p:nvPicPr>
          <p:cNvPr id="3078" name="Picture 18" descr="logo_UTFPR_cor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659563" y="333375"/>
            <a:ext cx="2266950" cy="842963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0" r:id="rId2"/>
    <p:sldLayoutId id="2147484111" r:id="rId3"/>
    <p:sldLayoutId id="2147484112" r:id="rId4"/>
    <p:sldLayoutId id="2147484113" r:id="rId5"/>
    <p:sldLayoutId id="2147484114" r:id="rId6"/>
    <p:sldLayoutId id="2147484115" r:id="rId7"/>
    <p:sldLayoutId id="2147484116" r:id="rId8"/>
    <p:sldLayoutId id="2147484117" r:id="rId9"/>
    <p:sldLayoutId id="2147484118" r:id="rId10"/>
    <p:sldLayoutId id="2147484119" r:id="rId11"/>
    <p:sldLayoutId id="214748414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2492375"/>
            <a:ext cx="65627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12647" name="Rectangle 7"/>
          <p:cNvSpPr>
            <a:spLocks noChangeArrowheads="1"/>
          </p:cNvSpPr>
          <p:nvPr userDrawn="1"/>
        </p:nvSpPr>
        <p:spPr bwMode="auto">
          <a:xfrm rot="5400000">
            <a:off x="-2709862" y="2744787"/>
            <a:ext cx="6858000" cy="13684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  <p:sp>
        <p:nvSpPr>
          <p:cNvPr id="112663" name="Rectangle 23"/>
          <p:cNvSpPr>
            <a:spLocks noChangeArrowheads="1"/>
          </p:cNvSpPr>
          <p:nvPr userDrawn="1"/>
        </p:nvSpPr>
        <p:spPr bwMode="auto">
          <a:xfrm rot="16200000">
            <a:off x="-2870993" y="2870993"/>
            <a:ext cx="6858000" cy="111601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E579"/>
              </a:gs>
              <a:gs pos="100000">
                <a:srgbClr val="FF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  <p:pic>
        <p:nvPicPr>
          <p:cNvPr id="4101" name="Picture 24" descr="logo_UTFPR_cor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164388" y="5876925"/>
            <a:ext cx="1763712" cy="655638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</p:spPr>
      </p:pic>
      <p:pic>
        <p:nvPicPr>
          <p:cNvPr id="4102" name="Picture 6" descr="logo_cnpq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79388" y="6381750"/>
            <a:ext cx="75565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129" r:id="rId10"/>
    <p:sldLayoutId id="214748413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4762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916113"/>
            <a:ext cx="8291512" cy="396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1623" name="Rectangle 7"/>
          <p:cNvSpPr>
            <a:spLocks noChangeArrowheads="1"/>
          </p:cNvSpPr>
          <p:nvPr userDrawn="1"/>
        </p:nvSpPr>
        <p:spPr bwMode="auto">
          <a:xfrm rot="10800000">
            <a:off x="0" y="6308725"/>
            <a:ext cx="9144000" cy="5492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  <p:sp>
        <p:nvSpPr>
          <p:cNvPr id="111633" name="Rectangle 17"/>
          <p:cNvSpPr>
            <a:spLocks noChangeArrowheads="1"/>
          </p:cNvSpPr>
          <p:nvPr userDrawn="1"/>
        </p:nvSpPr>
        <p:spPr bwMode="auto">
          <a:xfrm>
            <a:off x="0" y="6524625"/>
            <a:ext cx="9144000" cy="333375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E579"/>
              </a:gs>
              <a:gs pos="100000">
                <a:srgbClr val="FFCC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sz="1000" b="1" u="sng">
              <a:latin typeface="Arial" charset="0"/>
              <a:cs typeface="Arial" charset="0"/>
              <a:sym typeface="Wingdings 2" pitchFamily="18" charset="2"/>
            </a:endParaRPr>
          </a:p>
        </p:txBody>
      </p:sp>
      <p:pic>
        <p:nvPicPr>
          <p:cNvPr id="5126" name="Picture 9" descr="logo_UTFPR_cor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667625" y="6308725"/>
            <a:ext cx="1476375" cy="549275"/>
          </a:xfrm>
          <a:prstGeom prst="rect">
            <a:avLst/>
          </a:prstGeom>
          <a:solidFill>
            <a:srgbClr val="EEEEEE"/>
          </a:solidFill>
          <a:ln w="9525">
            <a:noFill/>
            <a:miter lim="800000"/>
            <a:headEnd/>
            <a:tailEnd/>
          </a:ln>
        </p:spPr>
      </p:pic>
      <p:sp>
        <p:nvSpPr>
          <p:cNvPr id="5127" name="AutoShape 7"/>
          <p:cNvSpPr>
            <a:spLocks noChangeArrowheads="1"/>
          </p:cNvSpPr>
          <p:nvPr userDrawn="1"/>
        </p:nvSpPr>
        <p:spPr bwMode="auto">
          <a:xfrm rot="5400000">
            <a:off x="341313" y="493712"/>
            <a:ext cx="647700" cy="612775"/>
          </a:xfrm>
          <a:prstGeom prst="rtTriangle">
            <a:avLst/>
          </a:prstGeom>
          <a:solidFill>
            <a:srgbClr val="FFE5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5" Type="http://schemas.openxmlformats.org/officeDocument/2006/relationships/image" Target="../media/image4.wmf"/><Relationship Id="rId10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wmf"/><Relationship Id="rId10" Type="http://schemas.openxmlformats.org/officeDocument/2006/relationships/image" Target="../media/image17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0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608" y="2708920"/>
            <a:ext cx="7188720" cy="1367458"/>
          </a:xfrm>
        </p:spPr>
        <p:txBody>
          <a:bodyPr/>
          <a:lstStyle/>
          <a:p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Aula 9</a:t>
            </a:r>
            <a:b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</a:b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Análise do Lugar das Raízes</a:t>
            </a:r>
            <a:b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</a:br>
            <a:b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</a:br>
            <a:r>
              <a:rPr lang="pt-BR" sz="1400" b="1" dirty="0">
                <a:cs typeface="Times New Roman" pitchFamily="18" charset="0"/>
              </a:rPr>
              <a:t>Prof. Ronaldo </a:t>
            </a:r>
            <a:r>
              <a:rPr lang="pt-BR" sz="1400" b="1" dirty="0" err="1">
                <a:cs typeface="Times New Roman" pitchFamily="18" charset="0"/>
              </a:rPr>
              <a:t>Guisso</a:t>
            </a:r>
            <a:endParaRPr lang="pt-BR" sz="1400" b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Feedback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Positivo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55576" y="1196752"/>
            <a:ext cx="6264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</a:t>
            </a:r>
            <a:r>
              <a:rPr lang="pt-BR" sz="1600" dirty="0" err="1">
                <a:latin typeface="+mn-lt"/>
              </a:rPr>
              <a:t>Plotar</a:t>
            </a:r>
            <a:r>
              <a:rPr lang="pt-BR" sz="1600" dirty="0">
                <a:latin typeface="+mn-lt"/>
              </a:rPr>
              <a:t> os polos e zeros da </a:t>
            </a:r>
            <a:r>
              <a:rPr lang="pt-BR" sz="1600" dirty="0" err="1">
                <a:latin typeface="+mn-lt"/>
              </a:rPr>
              <a:t>F.T.</a:t>
            </a:r>
            <a:r>
              <a:rPr lang="pt-BR" sz="1600" dirty="0">
                <a:latin typeface="+mn-lt"/>
              </a:rPr>
              <a:t> de malha aberta:</a:t>
            </a: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6097588" y="2565400"/>
          <a:ext cx="21431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4384000" imgH="5181600" progId="Equation.3">
                  <p:embed/>
                </p:oleObj>
              </mc:Choice>
              <mc:Fallback>
                <p:oleObj name="Equação" r:id="rId2" imgW="24384000" imgH="51816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7588" y="2565400"/>
                        <a:ext cx="2143125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868144" y="2204864"/>
            <a:ext cx="288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</a:t>
            </a:r>
            <a:r>
              <a:rPr lang="pt-BR" sz="1600" dirty="0">
                <a:latin typeface="+mn-lt"/>
              </a:rPr>
              <a:t>Equação Característica:</a:t>
            </a:r>
          </a:p>
        </p:txBody>
      </p:sp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5796136" y="1196752"/>
          <a:ext cx="864095" cy="30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4630400" imgH="5181600" progId="Equation.3">
                  <p:embed/>
                </p:oleObj>
              </mc:Choice>
              <mc:Fallback>
                <p:oleObj name="Equação" r:id="rId4" imgW="14630400" imgH="5181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1196752"/>
                        <a:ext cx="864095" cy="30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1187624" y="3861048"/>
          <a:ext cx="323532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54864000" imgH="10058400" progId="Equation.3">
                  <p:embed/>
                </p:oleObj>
              </mc:Choice>
              <mc:Fallback>
                <p:oleObj name="Equação" r:id="rId6" imgW="54864000" imgH="10058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861048"/>
                        <a:ext cx="3235325" cy="59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7" name="Object 9"/>
          <p:cNvGraphicFramePr>
            <a:graphicFrameLocks noChangeAspect="1"/>
          </p:cNvGraphicFramePr>
          <p:nvPr/>
        </p:nvGraphicFramePr>
        <p:xfrm>
          <a:off x="1763688" y="5373216"/>
          <a:ext cx="16335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8592800" imgH="4267200" progId="Equation.3">
                  <p:embed/>
                </p:oleObj>
              </mc:Choice>
              <mc:Fallback>
                <p:oleObj name="Equação" r:id="rId8" imgW="18592800" imgH="426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373216"/>
                        <a:ext cx="1633538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1562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15616" y="1772816"/>
            <a:ext cx="3717925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1563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148064" y="3212976"/>
            <a:ext cx="3222997" cy="265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2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55576" y="1196752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</a:t>
            </a:r>
            <a:r>
              <a:rPr lang="pt-BR" sz="1600" dirty="0" err="1">
                <a:latin typeface="+mn-lt"/>
              </a:rPr>
              <a:t>Plotar</a:t>
            </a:r>
            <a:r>
              <a:rPr lang="pt-BR" sz="1600" dirty="0">
                <a:latin typeface="+mn-lt"/>
              </a:rPr>
              <a:t> Lugar das Raízes no eixo Real.</a:t>
            </a:r>
          </a:p>
          <a:p>
            <a:pPr lvl="1"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No eixo Real, para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1600" dirty="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pt-BR" sz="1600" dirty="0">
                <a:latin typeface="+mn-lt"/>
              </a:rPr>
              <a:t>, o lugar das raízes existe à ESQUERDA de</a:t>
            </a:r>
            <a:r>
              <a:rPr lang="pt-BR" sz="1600" dirty="0">
                <a:solidFill>
                  <a:srgbClr val="E6E8F0"/>
                </a:solidFill>
                <a:latin typeface="Google Sans"/>
              </a:rPr>
              <a:t> </a:t>
            </a:r>
            <a:r>
              <a:rPr lang="pt-BR" sz="1600" dirty="0">
                <a:latin typeface="+mn-lt"/>
              </a:rPr>
              <a:t>um número ÍMPAR de polos e/ou zeros finitos em malha aberta. O lugar das raízes existe onde há um número ÍMPAR de polos/zeros à direita do ponto analisado.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115616" y="5445224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</a:t>
            </a:r>
            <a:r>
              <a:rPr lang="pt-BR" sz="1600" dirty="0">
                <a:latin typeface="+mn-lt"/>
              </a:rPr>
              <a:t>OBS: 0 é par.</a:t>
            </a:r>
          </a:p>
        </p:txBody>
      </p:sp>
      <p:pic>
        <p:nvPicPr>
          <p:cNvPr id="152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3340" y="2420888"/>
            <a:ext cx="4727266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3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55576" y="1196752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</a:t>
            </a:r>
            <a:r>
              <a:rPr lang="pt-BR" sz="1600" dirty="0">
                <a:latin typeface="+mn-lt"/>
              </a:rPr>
              <a:t>Determinar as assíntotas do Lugar das Raízes.</a:t>
            </a:r>
          </a:p>
          <a:p>
            <a:pPr lvl="1"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O Lugar das Raízes tende a retas assintóticas quando o lugar geométrico tende a infinito.</a:t>
            </a:r>
          </a:p>
          <a:p>
            <a:pPr lvl="1" algn="just">
              <a:buFont typeface="Arial" pitchFamily="34" charset="0"/>
              <a:buChar char="•"/>
            </a:pPr>
            <a:endParaRPr lang="pt-BR" sz="1600" dirty="0">
              <a:latin typeface="+mn-lt"/>
            </a:endParaRPr>
          </a:p>
          <a:p>
            <a:pPr lvl="1"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A equação das assíntotas é dada pela interseção com o eixo real </a:t>
            </a:r>
            <a:r>
              <a:rPr lang="pt-BR" sz="1600" i="1" dirty="0" err="1">
                <a:latin typeface="Symbol" pitchFamily="18" charset="2"/>
                <a:cs typeface="Times New Roman" pitchFamily="18" charset="0"/>
              </a:rPr>
              <a:t>s</a:t>
            </a:r>
            <a:r>
              <a:rPr lang="pt-BR" sz="1600" i="1" baseline="-250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sz="1600" dirty="0">
                <a:latin typeface="+mn-lt"/>
              </a:rPr>
              <a:t> e o ângulo </a:t>
            </a:r>
            <a:r>
              <a:rPr lang="pt-BR" sz="1600" i="1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pt-BR" sz="1600" i="1" baseline="-250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sz="1600" dirty="0">
                <a:latin typeface="+mn-lt"/>
              </a:rPr>
              <a:t> seguindo:</a:t>
            </a:r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2555776" y="3356992"/>
          <a:ext cx="4217987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58521600" imgH="25908000" progId="Equation.3">
                  <p:embed/>
                </p:oleObj>
              </mc:Choice>
              <mc:Fallback>
                <p:oleObj name="Equação" r:id="rId2" imgW="58521600" imgH="259080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356992"/>
                        <a:ext cx="4217987" cy="186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3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27584" y="1268760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  <a:cs typeface="Times New Roman" pitchFamily="18" charset="0"/>
              </a:rPr>
              <a:t>  </a:t>
            </a:r>
            <a:r>
              <a:rPr lang="pt-BR" sz="1600" dirty="0">
                <a:latin typeface="+mn-lt"/>
              </a:rPr>
              <a:t>No exemplo: polos = (-3, -1); zeros = (0);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pt-BR" sz="1600" dirty="0">
                <a:latin typeface="Times New Roman" pitchFamily="18" charset="0"/>
                <a:cs typeface="Times New Roman" pitchFamily="18" charset="0"/>
              </a:rPr>
              <a:t>= 2 </a:t>
            </a:r>
            <a:r>
              <a:rPr lang="pt-BR" sz="1600" dirty="0">
                <a:latin typeface="+mn-lt"/>
              </a:rPr>
              <a:t>(2 polos finitos),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pt-BR" sz="1600" dirty="0">
                <a:latin typeface="Times New Roman" pitchFamily="18" charset="0"/>
                <a:cs typeface="Times New Roman" pitchFamily="18" charset="0"/>
              </a:rPr>
              <a:t>= 1 </a:t>
            </a:r>
            <a:r>
              <a:rPr lang="pt-BR" sz="1600" dirty="0">
                <a:latin typeface="+mn-lt"/>
              </a:rPr>
              <a:t>(1 zero finito). Logo:</a:t>
            </a:r>
          </a:p>
        </p:txBody>
      </p:sp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1475656" y="2132856"/>
          <a:ext cx="47418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81381600" imgH="9448800" progId="Equation.3">
                  <p:embed/>
                </p:oleObj>
              </mc:Choice>
              <mc:Fallback>
                <p:oleObj name="Equação" r:id="rId2" imgW="81381600" imgH="94488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132856"/>
                        <a:ext cx="4741862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2051720" y="3356992"/>
          <a:ext cx="4192587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1932800" imgH="26212800" progId="Equation.3">
                  <p:embed/>
                </p:oleObj>
              </mc:Choice>
              <mc:Fallback>
                <p:oleObj name="Equação" r:id="rId4" imgW="71932800" imgH="26212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356992"/>
                        <a:ext cx="4192587" cy="152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4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27584" y="1412776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Dada a equação característica:</a:t>
            </a:r>
          </a:p>
          <a:p>
            <a:pPr algn="just"/>
            <a:endParaRPr lang="pt-BR" sz="1600" dirty="0">
              <a:latin typeface="+mn-lt"/>
            </a:endParaRPr>
          </a:p>
          <a:p>
            <a:pPr algn="just"/>
            <a:r>
              <a:rPr lang="pt-BR" sz="1600" dirty="0">
                <a:latin typeface="+mn-lt"/>
              </a:rPr>
              <a:t>resolvendo a equação:</a:t>
            </a:r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4219575" y="1268413"/>
          <a:ext cx="11715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0116800" imgH="10058400" progId="Equation.3">
                  <p:embed/>
                </p:oleObj>
              </mc:Choice>
              <mc:Fallback>
                <p:oleObj name="Equação" r:id="rId2" imgW="20116800" imgH="100584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5" y="1268413"/>
                        <a:ext cx="117157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966788" y="2349500"/>
          <a:ext cx="39084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67056000" imgH="21031200" progId="Equation.3">
                  <p:embed/>
                </p:oleObj>
              </mc:Choice>
              <mc:Fallback>
                <p:oleObj name="Equação" r:id="rId4" imgW="67056000" imgH="2103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2349500"/>
                        <a:ext cx="3908425" cy="1223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251520" y="3717032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No exemplo:</a:t>
            </a:r>
          </a:p>
        </p:txBody>
      </p:sp>
      <p:graphicFrame>
        <p:nvGraphicFramePr>
          <p:cNvPr id="137220" name="Object 4"/>
          <p:cNvGraphicFramePr>
            <a:graphicFrameLocks noChangeAspect="1"/>
          </p:cNvGraphicFramePr>
          <p:nvPr/>
        </p:nvGraphicFramePr>
        <p:xfrm>
          <a:off x="971600" y="4005064"/>
          <a:ext cx="2947988" cy="223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50596800" imgH="38404800" progId="Equation.3">
                  <p:embed/>
                </p:oleObj>
              </mc:Choice>
              <mc:Fallback>
                <p:oleObj name="Equação" r:id="rId6" imgW="50596800" imgH="38404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005064"/>
                        <a:ext cx="2947988" cy="2236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1" name="Object 5"/>
          <p:cNvGraphicFramePr>
            <a:graphicFrameLocks noChangeAspect="1"/>
          </p:cNvGraphicFramePr>
          <p:nvPr/>
        </p:nvGraphicFramePr>
        <p:xfrm>
          <a:off x="5436096" y="4581128"/>
          <a:ext cx="1366837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3469600" imgH="21945600" progId="Equation.3">
                  <p:embed/>
                </p:oleObj>
              </mc:Choice>
              <mc:Fallback>
                <p:oleObj name="Equação" r:id="rId8" imgW="23469600" imgH="21945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4581128"/>
                        <a:ext cx="1366837" cy="127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427984" y="2276872"/>
            <a:ext cx="4435779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5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99592" y="1268760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Determinar o cruzamento com o eixo imaginário:</a:t>
            </a:r>
          </a:p>
          <a:p>
            <a:pPr algn="just">
              <a:buFont typeface="Arial" pitchFamily="34" charset="0"/>
              <a:buChar char="•"/>
            </a:pPr>
            <a:endParaRPr lang="pt-BR" sz="1600" dirty="0">
              <a:latin typeface="+mn-lt"/>
            </a:endParaRPr>
          </a:p>
          <a:p>
            <a:pPr lvl="1"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Usar o critério de </a:t>
            </a:r>
            <a:r>
              <a:rPr lang="pt-BR" sz="1600" dirty="0" err="1">
                <a:latin typeface="+mn-lt"/>
              </a:rPr>
              <a:t>Routh-Hurwitz</a:t>
            </a:r>
            <a:r>
              <a:rPr lang="pt-BR" sz="1600" dirty="0">
                <a:latin typeface="+mn-lt"/>
              </a:rPr>
              <a:t>.</a:t>
            </a:r>
          </a:p>
        </p:txBody>
      </p:sp>
      <p:pic>
        <p:nvPicPr>
          <p:cNvPr id="143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2276872"/>
            <a:ext cx="5959509" cy="3095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Passo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5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99592" y="1268760"/>
            <a:ext cx="7128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Usar o critério de </a:t>
            </a:r>
            <a:r>
              <a:rPr lang="pt-BR" sz="1600" dirty="0" err="1">
                <a:latin typeface="+mn-lt"/>
              </a:rPr>
              <a:t>Routh-Hurwitz</a:t>
            </a:r>
            <a:r>
              <a:rPr lang="pt-BR" sz="1600" dirty="0">
                <a:latin typeface="+mn-lt"/>
              </a:rPr>
              <a:t>.</a:t>
            </a:r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827584" y="2564904"/>
          <a:ext cx="3549650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60960000" imgH="44196000" progId="Equation.3">
                  <p:embed/>
                </p:oleObj>
              </mc:Choice>
              <mc:Fallback>
                <p:oleObj name="Equação" r:id="rId2" imgW="60960000" imgH="4419600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564904"/>
                        <a:ext cx="3549650" cy="257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4788024" y="2780928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Encontrar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1600" dirty="0">
                <a:latin typeface="+mn-lt"/>
              </a:rPr>
              <a:t> no limiar de estabilidade usando o termo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16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t-BR" sz="1600" dirty="0">
                <a:latin typeface="+mn-lt"/>
              </a:rPr>
              <a:t> na primeira coluna.</a:t>
            </a: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6035675" y="3597275"/>
          <a:ext cx="1633538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8041600" imgH="4267200" progId="Equation.3">
                  <p:embed/>
                </p:oleObj>
              </mc:Choice>
              <mc:Fallback>
                <p:oleObj name="Equação" r:id="rId4" imgW="28041600" imgH="426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3597275"/>
                        <a:ext cx="1633538" cy="24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4788024" y="4221088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Aplicar esse valor de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pt-BR" sz="1600" dirty="0">
                <a:latin typeface="+mn-lt"/>
              </a:rPr>
              <a:t> na equação auxiliar usando em </a:t>
            </a:r>
            <a:r>
              <a:rPr lang="pt-BR" sz="16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pt-BR" sz="16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1600" dirty="0">
                <a:latin typeface="+mn-lt"/>
              </a:rPr>
              <a:t>:</a:t>
            </a:r>
          </a:p>
        </p:txBody>
      </p:sp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5580112" y="5085184"/>
          <a:ext cx="22733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39014400" imgH="11582400" progId="Equation.3">
                  <p:embed/>
                </p:oleObj>
              </mc:Choice>
              <mc:Fallback>
                <p:oleObj name="Equação" r:id="rId6" imgW="39014400" imgH="115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085184"/>
                        <a:ext cx="2273300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Lugar das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Raízes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484784"/>
            <a:ext cx="3717925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56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2996952"/>
            <a:ext cx="4695056" cy="310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Lugar das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Raízes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no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Matlab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95536" y="4077072"/>
            <a:ext cx="7776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clear</a:t>
            </a:r>
            <a:r>
              <a:rPr lang="pt-BR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all</a:t>
            </a:r>
            <a:endParaRPr lang="pt-BR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clc</a:t>
            </a:r>
            <a:endParaRPr lang="pt-BR" sz="12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it-IT" sz="1200" dirty="0">
                <a:latin typeface="Courier New" pitchFamily="49" charset="0"/>
                <a:cs typeface="Courier New" pitchFamily="49" charset="0"/>
              </a:rPr>
              <a:t>G=</a:t>
            </a:r>
            <a:r>
              <a:rPr lang="it-IT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tf</a:t>
            </a:r>
            <a:r>
              <a:rPr lang="it-IT" sz="1200" dirty="0">
                <a:latin typeface="Courier New" pitchFamily="49" charset="0"/>
                <a:cs typeface="Courier New" pitchFamily="49" charset="0"/>
              </a:rPr>
              <a:t>([1 0],[1])        </a:t>
            </a:r>
            <a:r>
              <a:rPr lang="it-I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%F.T. Ramo direto.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H=</a:t>
            </a:r>
            <a:r>
              <a:rPr lang="pt-BR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tf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([1],[1 4 3])      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%F.T. Ramo feedback.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pt-BR" sz="1200" dirty="0">
                <a:latin typeface="Courier New" pitchFamily="49" charset="0"/>
                <a:cs typeface="Courier New" pitchFamily="49" charset="0"/>
              </a:rPr>
              <a:t>A=-G*H                 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F.T.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Malha aberta. </a:t>
            </a:r>
            <a:r>
              <a:rPr lang="pt-BR" sz="1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NÃO ESQUEÇA DO SINAL MENOS.</a:t>
            </a:r>
          </a:p>
          <a:p>
            <a:r>
              <a:rPr lang="pt-BR" sz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rlocus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(A)              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Locus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pt-BR" sz="1200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axis</a:t>
            </a:r>
            <a:r>
              <a:rPr lang="pt-BR" sz="1200" dirty="0">
                <a:latin typeface="Courier New" pitchFamily="49" charset="0"/>
                <a:cs typeface="Courier New" pitchFamily="49" charset="0"/>
              </a:rPr>
              <a:t>([-4 4 -2 2])      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%Limites dos eixos do gráfico [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Xmin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Xmax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Ymin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200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Ymax</a:t>
            </a:r>
            <a:r>
              <a:rPr lang="pt-BR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].</a:t>
            </a:r>
          </a:p>
          <a:p>
            <a:pPr algn="just">
              <a:buFont typeface="Arial" pitchFamily="34" charset="0"/>
              <a:buChar char="•"/>
            </a:pPr>
            <a:endParaRPr lang="pt-BR" sz="1200" dirty="0">
              <a:latin typeface="+mn-lt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3717925" cy="179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1196752"/>
            <a:ext cx="4363795" cy="3270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Feedback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Positivo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x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Negativo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196752"/>
            <a:ext cx="4363795" cy="3270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268760"/>
            <a:ext cx="4226991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aixaDeTexto 6"/>
          <p:cNvSpPr txBox="1"/>
          <p:nvPr/>
        </p:nvSpPr>
        <p:spPr>
          <a:xfrm>
            <a:off x="1547664" y="4581128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Negativo.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012160" y="4581128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Positivo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827584" y="5229200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Um é complementar ao outro.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827584" y="548680"/>
            <a:ext cx="7920880" cy="57606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Exemplos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de Lugar das </a:t>
            </a:r>
            <a:r>
              <a:rPr lang="en-US" sz="32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Raízes</a:t>
            </a:r>
            <a:endParaRPr lang="en-US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96752"/>
            <a:ext cx="3456384" cy="504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4355976" y="2852936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Curva Contínua -&gt; Feedback Negativo.</a:t>
            </a:r>
          </a:p>
          <a:p>
            <a:pPr algn="just">
              <a:buFont typeface="Arial" pitchFamily="34" charset="0"/>
              <a:buChar char="•"/>
            </a:pPr>
            <a:endParaRPr lang="pt-BR" sz="1600" dirty="0">
              <a:latin typeface="+mn-lt"/>
            </a:endParaRPr>
          </a:p>
          <a:p>
            <a:pPr algn="just">
              <a:buFont typeface="Arial" pitchFamily="34" charset="0"/>
              <a:buChar char="•"/>
            </a:pPr>
            <a:r>
              <a:rPr lang="pt-BR" sz="1600" dirty="0">
                <a:latin typeface="+mn-lt"/>
              </a:rPr>
              <a:t> Curva Tracejada -&gt; Feedback Positivo.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ítulo">
  <a:themeElements>
    <a:clrScheme name="Títul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ítulo">
      <a:majorFont>
        <a:latin typeface="Lucida Sans Unicode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ítul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ítul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ítul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ítul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ítul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ítul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ítul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ersonalizar design">
  <a:themeElements>
    <a:clrScheme name="2_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Personalizar design">
      <a:majorFont>
        <a:latin typeface="Lucida Sans Unicode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Personalizar design">
  <a:themeElements>
    <a:clrScheme name="1_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Personalizar design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8222</TotalTime>
  <Words>391</Words>
  <Application>Microsoft Office PowerPoint</Application>
  <PresentationFormat>Apresentação na tela (4:3)</PresentationFormat>
  <Paragraphs>47</Paragraphs>
  <Slides>12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Courier New</vt:lpstr>
      <vt:lpstr>Google Sans</vt:lpstr>
      <vt:lpstr>Lucida Sans Unicode</vt:lpstr>
      <vt:lpstr>Symbol</vt:lpstr>
      <vt:lpstr>Times New Roman</vt:lpstr>
      <vt:lpstr>Título</vt:lpstr>
      <vt:lpstr>2_Personalizar design</vt:lpstr>
      <vt:lpstr>1_Personalizar design</vt:lpstr>
      <vt:lpstr>Equação</vt:lpstr>
      <vt:lpstr>Aula 9 Análise do Lugar das Raízes  Prof. Ronaldo Guisso</vt:lpstr>
      <vt:lpstr>Feedback Positivo</vt:lpstr>
      <vt:lpstr>Passo 2</vt:lpstr>
      <vt:lpstr>Passo 3</vt:lpstr>
      <vt:lpstr>Passo 3</vt:lpstr>
      <vt:lpstr>Passo 4</vt:lpstr>
      <vt:lpstr>Passo 5</vt:lpstr>
      <vt:lpstr>Passo 5</vt:lpstr>
      <vt:lpstr>Lugar das Raízes</vt:lpstr>
      <vt:lpstr>Lugar das Raízes no Matlab</vt:lpstr>
      <vt:lpstr>Feedback Positivo x Negativo</vt:lpstr>
      <vt:lpstr>Exemplos de Lugar das Raízes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Estagiário Com</dc:creator>
  <cp:lastModifiedBy>AVELL</cp:lastModifiedBy>
  <cp:revision>727</cp:revision>
  <dcterms:created xsi:type="dcterms:W3CDTF">2010-04-30T20:03:43Z</dcterms:created>
  <dcterms:modified xsi:type="dcterms:W3CDTF">2026-04-08T18:51:52Z</dcterms:modified>
</cp:coreProperties>
</file>